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7" r:id="rId9"/>
    <p:sldId id="262" r:id="rId10"/>
    <p:sldId id="268" r:id="rId11"/>
    <p:sldId id="270" r:id="rId12"/>
    <p:sldId id="271" r:id="rId13"/>
    <p:sldId id="263" r:id="rId14"/>
    <p:sldId id="269" r:id="rId15"/>
    <p:sldId id="264" r:id="rId16"/>
    <p:sldId id="265" r:id="rId17"/>
    <p:sldId id="272" r:id="rId18"/>
  </p:sldIdLst>
  <p:sldSz cx="14630400" cy="8229600"/>
  <p:notesSz cx="8229600" cy="14630400"/>
  <p:embeddedFontLst>
    <p:embeddedFont>
      <p:font typeface="Brygada 1918" panose="020B0604020202020204" charset="0"/>
      <p:regular r:id="rId20"/>
    </p:embeddedFont>
    <p:embeddedFont>
      <p:font typeface="Brygada 1918 Semi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903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EDB35-55C8-C6C2-AA62-EEDE8088B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8D4AD-D0AC-0758-A627-8A114C69F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AA048-D352-6823-30BC-229FE2571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C07CE-9830-E00A-B146-B3340001B3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56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E7E9C-F1C8-7074-F00E-6846DA943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E9EFD2-665D-5ACA-5466-6217296B6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1E443D-1F1C-8907-3316-68CC66B77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BEB79-FCB5-089D-4CD5-5481BE4E0E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676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633A8-5A84-9612-F99C-C457BB77F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D79559-A8CE-491F-995B-162CC4345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1A3650-D151-DA22-23DB-B8816DC12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5D8B-D2F5-7696-497C-E10610C800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58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B4EC5-7338-F752-AD74-5774F5533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C956F-0246-41EB-D392-CF8F5CE48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80F16B-BAB1-4525-2925-D29AEF550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6EF0F-3EE7-0D83-E337-7707A96D9A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5140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B8A1B-E5A5-19F7-1CD3-C6FBA5024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7373B3-7231-2DF5-CF76-C6E54CE99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EC937-596A-436A-AD4F-71C1A5448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28F6A-0D1C-0667-A3B2-F1DE159E0D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412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1F903-7807-C6A3-E5F6-433AB1A25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DCDE6-F581-4CEF-B6C1-9032B88EE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3572A-7C54-36ED-867F-B63A1C4A9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827A1-491C-8F36-FCFD-58636405C8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169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94614-3502-EAB3-7064-04B24602D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87D15-4A33-2A37-4189-52A225B49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7C3D4-E249-351E-D911-5032C9159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FC8D2-017D-71B5-6272-04C2A047A0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103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714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Pizza Sales Analysis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979777"/>
            <a:ext cx="494788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SQL &amp; Power BI Project</a:t>
            </a:r>
            <a:endParaRPr lang="en-US" sz="3550" dirty="0"/>
          </a:p>
        </p:txBody>
      </p:sp>
      <p:sp>
        <p:nvSpPr>
          <p:cNvPr id="5" name="Shape 2"/>
          <p:cNvSpPr/>
          <p:nvPr/>
        </p:nvSpPr>
        <p:spPr>
          <a:xfrm>
            <a:off x="6280190" y="3886914"/>
            <a:ext cx="3664744" cy="1322189"/>
          </a:xfrm>
          <a:prstGeom prst="roundRect">
            <a:avLst>
              <a:gd name="adj" fmla="val 25733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213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Name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611767"/>
            <a:ext cx="31958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Sana Gul Niazi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171748" y="3886914"/>
            <a:ext cx="3664863" cy="1322189"/>
          </a:xfrm>
          <a:prstGeom prst="roundRect">
            <a:avLst>
              <a:gd name="adj" fmla="val 25733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06182" y="41213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Tools Used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406182" y="4611767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SQL | Power BI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280190" y="5435918"/>
            <a:ext cx="7556421" cy="1322189"/>
          </a:xfrm>
          <a:prstGeom prst="roundRect">
            <a:avLst>
              <a:gd name="adj" fmla="val 25733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4624" y="5670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Project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514624" y="6160770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Pizza Sales Analysis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049" y="656153"/>
            <a:ext cx="5507474" cy="688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Project Overview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71049" y="1665446"/>
            <a:ext cx="495657" cy="495657"/>
          </a:xfrm>
          <a:prstGeom prst="roundRect">
            <a:avLst>
              <a:gd name="adj" fmla="val 66669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80661" y="1741170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Business Insights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480661" y="2213729"/>
            <a:ext cx="6892290" cy="694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This project focuses on analyzing pizza sales data to generate business insights.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771049" y="3336250"/>
            <a:ext cx="495657" cy="495657"/>
          </a:xfrm>
          <a:prstGeom prst="roundRect">
            <a:avLst>
              <a:gd name="adj" fmla="val 66669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80661" y="3411974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SQL Processing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480661" y="3884533"/>
            <a:ext cx="6892290" cy="694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SQL was used for data cleaning, transformation, and KPI calculation.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771049" y="5007054"/>
            <a:ext cx="495657" cy="495657"/>
          </a:xfrm>
          <a:prstGeom prst="roundRect">
            <a:avLst>
              <a:gd name="adj" fmla="val 66669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80661" y="5082778"/>
            <a:ext cx="291738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Interactive Dashboard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480661" y="5555337"/>
            <a:ext cx="6892290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Power BI was used to build an interactive dashboard.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771049" y="6330553"/>
            <a:ext cx="495657" cy="495657"/>
          </a:xfrm>
          <a:prstGeom prst="roundRect">
            <a:avLst>
              <a:gd name="adj" fmla="val 66669"/>
            </a:avLst>
          </a:prstGeom>
          <a:solidFill>
            <a:srgbClr val="CC914D"/>
          </a:solidFill>
          <a:ln w="7620">
            <a:solidFill>
              <a:srgbClr val="B277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80661" y="6406277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Core Goal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480661" y="6878836"/>
            <a:ext cx="6892290" cy="694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 goal was to understand sales performance and customer preferences.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09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23555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6EBD4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693075"/>
            <a:ext cx="4196358" cy="121920"/>
          </a:xfrm>
          <a:prstGeom prst="roundRect">
            <a:avLst>
              <a:gd name="adj" fmla="val 279070"/>
            </a:avLst>
          </a:prstGeom>
          <a:solidFill>
            <a:srgbClr val="626C3B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238339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626C3B"/>
          </a:solidFill>
          <a:ln/>
        </p:spPr>
      </p:sp>
      <p:sp>
        <p:nvSpPr>
          <p:cNvPr id="6" name="Text 4"/>
          <p:cNvSpPr/>
          <p:nvPr/>
        </p:nvSpPr>
        <p:spPr>
          <a:xfrm>
            <a:off x="2755761" y="255353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2905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Sales Performance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780949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Analyze overall sales performance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216962" y="2723555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6EBD4"/>
          </a:solidFill>
          <a:ln/>
        </p:spPr>
      </p:sp>
      <p:sp>
        <p:nvSpPr>
          <p:cNvPr id="10" name="Shape 8"/>
          <p:cNvSpPr/>
          <p:nvPr/>
        </p:nvSpPr>
        <p:spPr>
          <a:xfrm>
            <a:off x="5216962" y="2693075"/>
            <a:ext cx="4196358" cy="121920"/>
          </a:xfrm>
          <a:prstGeom prst="roundRect">
            <a:avLst>
              <a:gd name="adj" fmla="val 279070"/>
            </a:avLst>
          </a:prstGeom>
          <a:solidFill>
            <a:srgbClr val="83792E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0" y="238339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3792E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255353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32905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Top Sellers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4256" y="378094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Identify top-selling pizzas and categories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640133" y="2723555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6EBD4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0133" y="2693075"/>
            <a:ext cx="4196358" cy="121920"/>
          </a:xfrm>
          <a:prstGeom prst="roundRect">
            <a:avLst>
              <a:gd name="adj" fmla="val 279070"/>
            </a:avLst>
          </a:prstGeom>
          <a:solidFill>
            <a:srgbClr val="E8AF3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98032" y="238339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8AF3B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2105" y="255353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3290530"/>
            <a:ext cx="29603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Revenue Contribution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378094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Understand revenue contribution by category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93790" y="5331023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6EBD4"/>
          </a:solidFill>
          <a:ln/>
        </p:spPr>
      </p:sp>
      <p:sp>
        <p:nvSpPr>
          <p:cNvPr id="22" name="Shape 20"/>
          <p:cNvSpPr/>
          <p:nvPr/>
        </p:nvSpPr>
        <p:spPr>
          <a:xfrm>
            <a:off x="793790" y="5300543"/>
            <a:ext cx="6407944" cy="121920"/>
          </a:xfrm>
          <a:prstGeom prst="roundRect">
            <a:avLst>
              <a:gd name="adj" fmla="val 279070"/>
            </a:avLst>
          </a:prstGeom>
          <a:solidFill>
            <a:srgbClr val="CC914D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540" y="499086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CC914D"/>
          </a:solidFill>
          <a:ln/>
        </p:spPr>
      </p:sp>
      <p:sp>
        <p:nvSpPr>
          <p:cNvPr id="24" name="Text 22"/>
          <p:cNvSpPr/>
          <p:nvPr/>
        </p:nvSpPr>
        <p:spPr>
          <a:xfrm>
            <a:off x="3861614" y="516100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51084" y="5897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Daily Trends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51084" y="638841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Track daily sales trends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428548" y="5331023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6EBD4"/>
          </a:solidFill>
          <a:ln/>
        </p:spPr>
      </p:sp>
      <p:sp>
        <p:nvSpPr>
          <p:cNvPr id="28" name="Shape 26"/>
          <p:cNvSpPr/>
          <p:nvPr/>
        </p:nvSpPr>
        <p:spPr>
          <a:xfrm>
            <a:off x="7428548" y="5300543"/>
            <a:ext cx="6407944" cy="121920"/>
          </a:xfrm>
          <a:prstGeom prst="roundRect">
            <a:avLst>
              <a:gd name="adj" fmla="val 279070"/>
            </a:avLst>
          </a:prstGeom>
          <a:solidFill>
            <a:srgbClr val="626C3B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92298" y="499086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626C3B"/>
          </a:solidFill>
          <a:ln/>
        </p:spPr>
      </p:sp>
      <p:sp>
        <p:nvSpPr>
          <p:cNvPr id="30" name="Text 28"/>
          <p:cNvSpPr/>
          <p:nvPr/>
        </p:nvSpPr>
        <p:spPr>
          <a:xfrm>
            <a:off x="10496371" y="516100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685842" y="5897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Dashboard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85842" y="638841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Build an interactive dashboard for decision-making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00977"/>
            <a:ext cx="68139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Dataset &amp; Data Modelling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3149918"/>
            <a:ext cx="6571417" cy="2978587"/>
          </a:xfrm>
          <a:prstGeom prst="roundRect">
            <a:avLst>
              <a:gd name="adj" fmla="val 18277"/>
            </a:avLst>
          </a:prstGeom>
          <a:solidFill>
            <a:srgbClr val="626C3B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3767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Original 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957876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Original dataset contained all data in a single table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57250" y="4689310"/>
            <a:ext cx="6117788" cy="35957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57250" y="49803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Outcome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57250" y="5561528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Improved data structure and query performance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599521" y="3376732"/>
            <a:ext cx="45710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Data was normalised into 4 tables: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599521" y="3986213"/>
            <a:ext cx="3008948" cy="823198"/>
          </a:xfrm>
          <a:prstGeom prst="roundRect">
            <a:avLst>
              <a:gd name="adj" fmla="val 41332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33955" y="4220647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Pizza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835283" y="3986213"/>
            <a:ext cx="3008948" cy="823198"/>
          </a:xfrm>
          <a:prstGeom prst="roundRect">
            <a:avLst>
              <a:gd name="adj" fmla="val 41332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9717" y="4220647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Pizza_Detail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599521" y="5036225"/>
            <a:ext cx="3008948" cy="823198"/>
          </a:xfrm>
          <a:prstGeom prst="roundRect">
            <a:avLst>
              <a:gd name="adj" fmla="val 41332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33955" y="5270659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Orders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835283" y="5036225"/>
            <a:ext cx="3008948" cy="823198"/>
          </a:xfrm>
          <a:prstGeom prst="roundRect">
            <a:avLst>
              <a:gd name="adj" fmla="val 41332"/>
            </a:avLst>
          </a:prstGeom>
          <a:solidFill>
            <a:srgbClr val="CC914D"/>
          </a:solidFill>
          <a:ln w="7620">
            <a:solidFill>
              <a:srgbClr val="B277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9717" y="5270659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Order_Detail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0599"/>
            <a:ext cx="66807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Data Cleaning Using SQL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060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Cleaning Steps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2877145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2865834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Removed duplicate records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4022527"/>
            <a:ext cx="340162" cy="340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0906" y="4011216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Handled missing values</a:t>
            </a:r>
            <a:endParaRPr lang="en-US" sz="2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00" y="5167908"/>
            <a:ext cx="340162" cy="3401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30906" y="5156597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Standardised data formats</a:t>
            </a:r>
            <a:endParaRPr lang="en-US" sz="2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00" y="6313289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30906" y="6301978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Ensured data consistency</a:t>
            </a:r>
            <a:endParaRPr lang="en-US" sz="2400" dirty="0"/>
          </a:p>
        </p:txBody>
      </p:sp>
      <p:sp>
        <p:nvSpPr>
          <p:cNvPr id="12" name="Shape 6"/>
          <p:cNvSpPr/>
          <p:nvPr/>
        </p:nvSpPr>
        <p:spPr>
          <a:xfrm>
            <a:off x="7436168" y="2029539"/>
            <a:ext cx="6571417" cy="5219343"/>
          </a:xfrm>
          <a:prstGeom prst="roundRect">
            <a:avLst>
              <a:gd name="adj" fmla="val 10430"/>
            </a:avLst>
          </a:prstGeom>
          <a:solidFill>
            <a:srgbClr val="626C3B"/>
          </a:solidFill>
          <a:ln/>
        </p:spPr>
      </p:sp>
      <p:sp>
        <p:nvSpPr>
          <p:cNvPr id="13" name="Text 7"/>
          <p:cNvSpPr/>
          <p:nvPr/>
        </p:nvSpPr>
        <p:spPr>
          <a:xfrm>
            <a:off x="7662982" y="23893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SQL Concepts Used</a:t>
            </a:r>
            <a:endParaRPr lang="en-US" sz="2800" dirty="0"/>
          </a:p>
        </p:txBody>
      </p:sp>
      <p:sp>
        <p:nvSpPr>
          <p:cNvPr id="14" name="Text 8"/>
          <p:cNvSpPr/>
          <p:nvPr/>
        </p:nvSpPr>
        <p:spPr>
          <a:xfrm>
            <a:off x="7662982" y="3219881"/>
            <a:ext cx="6117788" cy="2964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JOINs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600" dirty="0">
              <a:solidFill>
                <a:srgbClr val="FFFFFF"/>
              </a:solidFill>
              <a:latin typeface="Brygada 1918" pitchFamily="34" charset="0"/>
              <a:ea typeface="Brygada 1918" pitchFamily="34" charset="-122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6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CTE (Common Table Expressions)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600" dirty="0">
              <a:solidFill>
                <a:srgbClr val="FFFFFF"/>
              </a:solidFill>
              <a:latin typeface="Brygada 1918" pitchFamily="34" charset="0"/>
              <a:ea typeface="Brygada 1918" pitchFamily="34" charset="-122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6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Subqueries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15A73-5B27-63C6-3AE7-B48356E38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B5859F-32A0-601D-F4F3-78E4F8836914}"/>
              </a:ext>
            </a:extLst>
          </p:cNvPr>
          <p:cNvSpPr/>
          <p:nvPr/>
        </p:nvSpPr>
        <p:spPr>
          <a:xfrm>
            <a:off x="793790" y="426703"/>
            <a:ext cx="66807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Data Cleaning Using SQL</a:t>
            </a:r>
            <a:endParaRPr lang="en-US" sz="44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87C21C-6B4D-CC29-08D5-E50613149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928" y="1379330"/>
            <a:ext cx="12566543" cy="659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72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3679"/>
            <a:ext cx="75051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Key Performance Indicators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89434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817.86K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41212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Total Revenue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56884" y="3089434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50K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9229130" y="41212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Total Pizzas Sold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93790" y="4730710"/>
            <a:ext cx="4196358" cy="1685092"/>
          </a:xfrm>
          <a:prstGeom prst="roundRect">
            <a:avLst>
              <a:gd name="adj" fmla="val 20191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8224" y="4965144"/>
            <a:ext cx="35763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Average Order Value (AOV)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8224" y="5455563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Tracks the average spend per order across the dataset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4730710"/>
            <a:ext cx="4196358" cy="1685092"/>
          </a:xfrm>
          <a:prstGeom prst="roundRect">
            <a:avLst>
              <a:gd name="adj" fmla="val 20191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1396" y="4965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Revenue by Category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51396" y="5455563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Breaks down total revenue across each pizza category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4730710"/>
            <a:ext cx="4196358" cy="1685092"/>
          </a:xfrm>
          <a:prstGeom prst="roundRect">
            <a:avLst>
              <a:gd name="adj" fmla="val 20191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4568" y="4965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Daily Sales Trends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874568" y="5455563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Monitors fluctuations in sales volume day by day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46D7F-4945-C825-95FA-A8BBCC6CD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1760E32-6415-77CD-A23B-AB721B55C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928" y="1379330"/>
            <a:ext cx="12666705" cy="6597721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EC35AB37-5D10-087C-5C07-424E819A78E9}"/>
              </a:ext>
            </a:extLst>
          </p:cNvPr>
          <p:cNvSpPr/>
          <p:nvPr/>
        </p:nvSpPr>
        <p:spPr>
          <a:xfrm>
            <a:off x="793790" y="426703"/>
            <a:ext cx="66807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Key Performance Indicators</a:t>
            </a:r>
            <a:endParaRPr lang="en-US" sz="4450" dirty="0"/>
          </a:p>
        </p:txBody>
      </p:sp>
    </p:spTree>
    <p:extLst>
      <p:ext uri="{BB962C8B-B14F-4D97-AF65-F5344CB8AC3E}">
        <p14:creationId xmlns:p14="http://schemas.microsoft.com/office/powerpoint/2010/main" val="159139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644" y="639127"/>
            <a:ext cx="5512356" cy="689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Revenue Insights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71644" y="1649611"/>
            <a:ext cx="7600712" cy="1322546"/>
          </a:xfrm>
          <a:prstGeom prst="roundRect">
            <a:avLst>
              <a:gd name="adj" fmla="val 11062"/>
            </a:avLst>
          </a:prstGeom>
          <a:solidFill>
            <a:srgbClr val="F6EBD4"/>
          </a:solidFill>
          <a:ln w="30480">
            <a:solidFill>
              <a:srgbClr val="626C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1164" y="1649611"/>
            <a:ext cx="121920" cy="1322546"/>
          </a:xfrm>
          <a:prstGeom prst="roundRect">
            <a:avLst>
              <a:gd name="adj" fmla="val 271283"/>
            </a:avLst>
          </a:prstGeom>
          <a:solidFill>
            <a:srgbClr val="626C3B"/>
          </a:solidFill>
          <a:ln/>
        </p:spPr>
      </p:sp>
      <p:sp>
        <p:nvSpPr>
          <p:cNvPr id="6" name="Text 3"/>
          <p:cNvSpPr/>
          <p:nvPr/>
        </p:nvSpPr>
        <p:spPr>
          <a:xfrm>
            <a:off x="1113949" y="1900476"/>
            <a:ext cx="3073122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Top Category Identified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113949" y="2373511"/>
            <a:ext cx="7007543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Highest revenue-generating pizza category identified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71644" y="3186470"/>
            <a:ext cx="7600712" cy="1330166"/>
          </a:xfrm>
          <a:prstGeom prst="roundRect">
            <a:avLst>
              <a:gd name="adj" fmla="val 10999"/>
            </a:avLst>
          </a:prstGeom>
          <a:solidFill>
            <a:srgbClr val="F6EBD4"/>
          </a:solidFill>
          <a:ln w="30480">
            <a:solidFill>
              <a:srgbClr val="8379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1164" y="3186470"/>
            <a:ext cx="121920" cy="1330166"/>
          </a:xfrm>
          <a:prstGeom prst="roundRect">
            <a:avLst>
              <a:gd name="adj" fmla="val 271283"/>
            </a:avLst>
          </a:prstGeom>
          <a:solidFill>
            <a:srgbClr val="83792E"/>
          </a:solidFill>
          <a:ln/>
        </p:spPr>
      </p:sp>
      <p:sp>
        <p:nvSpPr>
          <p:cNvPr id="10" name="Text 7"/>
          <p:cNvSpPr/>
          <p:nvPr/>
        </p:nvSpPr>
        <p:spPr>
          <a:xfrm>
            <a:off x="1113949" y="3437334"/>
            <a:ext cx="4706660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🏆</a:t>
            </a:r>
            <a:r>
              <a:rPr lang="en-US" sz="2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Top Category: Thai Chicken Pizza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1113949" y="3917990"/>
            <a:ext cx="7007543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Top category: </a:t>
            </a:r>
            <a:r>
              <a:rPr lang="en-US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👉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Thai Chicken Pizza – </a:t>
            </a: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43,434.25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771644" y="4730948"/>
            <a:ext cx="7600712" cy="1322546"/>
          </a:xfrm>
          <a:prstGeom prst="roundRect">
            <a:avLst>
              <a:gd name="adj" fmla="val 11062"/>
            </a:avLst>
          </a:prstGeom>
          <a:solidFill>
            <a:srgbClr val="F6EBD4"/>
          </a:solidFill>
          <a:ln w="30480">
            <a:solidFill>
              <a:srgbClr val="E8AF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1164" y="4730948"/>
            <a:ext cx="121920" cy="1322546"/>
          </a:xfrm>
          <a:prstGeom prst="roundRect">
            <a:avLst>
              <a:gd name="adj" fmla="val 271283"/>
            </a:avLst>
          </a:prstGeom>
          <a:solidFill>
            <a:srgbClr val="E8AF3B"/>
          </a:solidFill>
          <a:ln/>
        </p:spPr>
      </p:sp>
      <p:sp>
        <p:nvSpPr>
          <p:cNvPr id="14" name="Text 11"/>
          <p:cNvSpPr/>
          <p:nvPr/>
        </p:nvSpPr>
        <p:spPr>
          <a:xfrm>
            <a:off x="1113949" y="4981813"/>
            <a:ext cx="3683913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Cross-Category Comparison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113949" y="5454848"/>
            <a:ext cx="7007543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Compared revenue across all categories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771644" y="6267807"/>
            <a:ext cx="7600712" cy="1322546"/>
          </a:xfrm>
          <a:prstGeom prst="roundRect">
            <a:avLst>
              <a:gd name="adj" fmla="val 11062"/>
            </a:avLst>
          </a:prstGeom>
          <a:solidFill>
            <a:srgbClr val="F6EBD4"/>
          </a:solidFill>
          <a:ln w="30480">
            <a:solidFill>
              <a:srgbClr val="CC914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1164" y="6267807"/>
            <a:ext cx="121920" cy="1322546"/>
          </a:xfrm>
          <a:prstGeom prst="roundRect">
            <a:avLst>
              <a:gd name="adj" fmla="val 271283"/>
            </a:avLst>
          </a:prstGeom>
          <a:solidFill>
            <a:srgbClr val="CC914D"/>
          </a:solidFill>
          <a:ln/>
        </p:spPr>
      </p:sp>
      <p:sp>
        <p:nvSpPr>
          <p:cNvPr id="18" name="Text 15"/>
          <p:cNvSpPr/>
          <p:nvPr/>
        </p:nvSpPr>
        <p:spPr>
          <a:xfrm>
            <a:off x="1113949" y="6518672"/>
            <a:ext cx="29135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Segment Performance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1113949" y="6991707"/>
            <a:ext cx="7007543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Identified high and low-performing segments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945DF-1109-D79D-9986-82912FC9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6166AC3-62EA-EEFD-FAD9-09F2B78C1EBC}"/>
              </a:ext>
            </a:extLst>
          </p:cNvPr>
          <p:cNvSpPr/>
          <p:nvPr/>
        </p:nvSpPr>
        <p:spPr>
          <a:xfrm>
            <a:off x="771644" y="456247"/>
            <a:ext cx="5512356" cy="689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Revenue Insights</a:t>
            </a:r>
            <a:endParaRPr lang="en-US" sz="43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790B8D7-C38F-3CD2-3C3D-5B3024FD5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644" y="1328142"/>
            <a:ext cx="12597070" cy="657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22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78760-1F36-A974-BCBB-E5D7C88E8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82DB6E-5300-00A8-D867-B128A8CF9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644" y="1380588"/>
            <a:ext cx="12597070" cy="652043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883DEAE-D013-1A14-DB20-BFD2B902707D}"/>
              </a:ext>
            </a:extLst>
          </p:cNvPr>
          <p:cNvSpPr/>
          <p:nvPr/>
        </p:nvSpPr>
        <p:spPr>
          <a:xfrm>
            <a:off x="771644" y="456247"/>
            <a:ext cx="5512356" cy="689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Revenue Insights</a:t>
            </a:r>
            <a:endParaRPr lang="en-US" sz="4300" dirty="0"/>
          </a:p>
        </p:txBody>
      </p:sp>
    </p:spTree>
    <p:extLst>
      <p:ext uri="{BB962C8B-B14F-4D97-AF65-F5344CB8AC3E}">
        <p14:creationId xmlns:p14="http://schemas.microsoft.com/office/powerpoint/2010/main" val="1239908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39FE-FE46-FC65-E072-763740510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A8E318-B159-7FDD-9716-E3CC5A28D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644" y="1380588"/>
            <a:ext cx="12485217" cy="652043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C7670B3-D5E0-7773-E5BF-8F48588F58E3}"/>
              </a:ext>
            </a:extLst>
          </p:cNvPr>
          <p:cNvSpPr/>
          <p:nvPr/>
        </p:nvSpPr>
        <p:spPr>
          <a:xfrm>
            <a:off x="771644" y="456247"/>
            <a:ext cx="5512356" cy="689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Revenue Insights</a:t>
            </a:r>
            <a:endParaRPr lang="en-US" sz="4300" dirty="0"/>
          </a:p>
        </p:txBody>
      </p:sp>
    </p:spTree>
    <p:extLst>
      <p:ext uri="{BB962C8B-B14F-4D97-AF65-F5344CB8AC3E}">
        <p14:creationId xmlns:p14="http://schemas.microsoft.com/office/powerpoint/2010/main" val="2736842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00977"/>
            <a:ext cx="60026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Top Performing Pizzas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3149918"/>
            <a:ext cx="6571417" cy="2978587"/>
          </a:xfrm>
          <a:prstGeom prst="roundRect">
            <a:avLst>
              <a:gd name="adj" fmla="val 18277"/>
            </a:avLst>
          </a:prstGeom>
          <a:solidFill>
            <a:srgbClr val="626C3B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376732"/>
            <a:ext cx="31981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Top 5 Pizzas by Revenue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957876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Top 5 pizzas by revenue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57250" y="4689310"/>
            <a:ext cx="6117788" cy="35957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57250" y="4980384"/>
            <a:ext cx="38890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Top 5 Pizzas by Quantity Sold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57250" y="5561528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Top 5 pizzas by quantity sold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599521" y="3376732"/>
            <a:ext cx="29771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Customer Preferences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395787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Identified customer preferences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599521" y="4689310"/>
            <a:ext cx="6244709" cy="35957"/>
          </a:xfrm>
          <a:prstGeom prst="rect">
            <a:avLst/>
          </a:prstGeom>
          <a:solidFill>
            <a:srgbClr val="403011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599521" y="4980384"/>
            <a:ext cx="28847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Best-Selling Products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99521" y="55615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Highlighted best-selling products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ED418-CD83-5D39-4205-A3D72C6A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CD1BC1-5B8A-9B30-4DBF-D6EBE00B7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644" y="1374281"/>
            <a:ext cx="12597070" cy="652674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F942590-ACB7-33E8-8D64-24035B3CCF0F}"/>
              </a:ext>
            </a:extLst>
          </p:cNvPr>
          <p:cNvSpPr/>
          <p:nvPr/>
        </p:nvSpPr>
        <p:spPr>
          <a:xfrm>
            <a:off x="771644" y="456247"/>
            <a:ext cx="5512356" cy="689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Top Performing Pizzas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680699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6">
            <a:extLst>
              <a:ext uri="{FF2B5EF4-FFF2-40B4-BE49-F238E27FC236}">
                <a16:creationId xmlns:a16="http://schemas.microsoft.com/office/drawing/2014/main" id="{98706696-9F99-3FF1-61C8-AF0C3CC99620}"/>
              </a:ext>
            </a:extLst>
          </p:cNvPr>
          <p:cNvSpPr/>
          <p:nvPr/>
        </p:nvSpPr>
        <p:spPr>
          <a:xfrm>
            <a:off x="7436168" y="2029539"/>
            <a:ext cx="6571417" cy="5219343"/>
          </a:xfrm>
          <a:prstGeom prst="roundRect">
            <a:avLst>
              <a:gd name="adj" fmla="val 10430"/>
            </a:avLst>
          </a:prstGeom>
          <a:solidFill>
            <a:srgbClr val="626C3B"/>
          </a:solidFill>
          <a:ln/>
        </p:spPr>
      </p:sp>
      <p:sp>
        <p:nvSpPr>
          <p:cNvPr id="2" name="Text 0"/>
          <p:cNvSpPr/>
          <p:nvPr/>
        </p:nvSpPr>
        <p:spPr>
          <a:xfrm>
            <a:off x="763429" y="820698"/>
            <a:ext cx="6438186" cy="681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Business Problem Solved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63429" y="2052995"/>
            <a:ext cx="218123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3429" y="2393275"/>
            <a:ext cx="6285667" cy="30480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5" name="Text 3"/>
          <p:cNvSpPr/>
          <p:nvPr/>
        </p:nvSpPr>
        <p:spPr>
          <a:xfrm>
            <a:off x="763429" y="2563297"/>
            <a:ext cx="2847261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Revenue Contribution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3429" y="3113842"/>
            <a:ext cx="6285667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Calculated percentage revenue contribution of each category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3429" y="3829526"/>
            <a:ext cx="218123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429" y="4169807"/>
            <a:ext cx="6285667" cy="30480"/>
          </a:xfrm>
          <a:prstGeom prst="rect">
            <a:avLst/>
          </a:prstGeom>
          <a:solidFill>
            <a:srgbClr val="83792E"/>
          </a:solidFill>
          <a:ln/>
        </p:spPr>
      </p:sp>
      <p:sp>
        <p:nvSpPr>
          <p:cNvPr id="9" name="Text 7"/>
          <p:cNvSpPr/>
          <p:nvPr/>
        </p:nvSpPr>
        <p:spPr>
          <a:xfrm>
            <a:off x="763429" y="4339828"/>
            <a:ext cx="27267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Revenue Ranking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63429" y="4890373"/>
            <a:ext cx="6285667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Created revenue ranking for each category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3429" y="5606058"/>
            <a:ext cx="218123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63429" y="5946338"/>
            <a:ext cx="6285667" cy="30480"/>
          </a:xfrm>
          <a:prstGeom prst="rect">
            <a:avLst/>
          </a:prstGeom>
          <a:solidFill>
            <a:srgbClr val="E8AF3B"/>
          </a:solidFill>
          <a:ln/>
        </p:spPr>
      </p:sp>
      <p:sp>
        <p:nvSpPr>
          <p:cNvPr id="13" name="Text 11"/>
          <p:cNvSpPr/>
          <p:nvPr/>
        </p:nvSpPr>
        <p:spPr>
          <a:xfrm>
            <a:off x="763429" y="6116360"/>
            <a:ext cx="27267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Profitable Segments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63429" y="6666905"/>
            <a:ext cx="6285667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Helped in identifying most profitable segments</a:t>
            </a:r>
            <a:endParaRPr lang="en-US" sz="17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AFDC6141-AB19-509C-2F3F-DA291F1090EC}"/>
              </a:ext>
            </a:extLst>
          </p:cNvPr>
          <p:cNvSpPr/>
          <p:nvPr/>
        </p:nvSpPr>
        <p:spPr>
          <a:xfrm>
            <a:off x="7662982" y="23893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SQL Concepts Used</a:t>
            </a:r>
            <a:endParaRPr lang="en-US" sz="28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E4B73820-4E14-7949-CE72-0AC62B0BF2FF}"/>
              </a:ext>
            </a:extLst>
          </p:cNvPr>
          <p:cNvSpPr/>
          <p:nvPr/>
        </p:nvSpPr>
        <p:spPr>
          <a:xfrm>
            <a:off x="7662982" y="3219881"/>
            <a:ext cx="6117788" cy="2964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JOINs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600" dirty="0">
              <a:solidFill>
                <a:srgbClr val="FFFFFF"/>
              </a:solidFill>
              <a:latin typeface="Brygada 1918" pitchFamily="34" charset="0"/>
              <a:ea typeface="Brygada 1918" pitchFamily="34" charset="-122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6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CTE (Common Table Expressions)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600" dirty="0">
              <a:solidFill>
                <a:srgbClr val="FFFFFF"/>
              </a:solidFill>
              <a:latin typeface="Brygada 1918" pitchFamily="34" charset="0"/>
              <a:ea typeface="Brygada 1918" pitchFamily="34" charset="-122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6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Subqueries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774" y="659049"/>
            <a:ext cx="3398639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6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Power BI Dashboard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75774" y="1350495"/>
            <a:ext cx="8192453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Built an interactive dashboard with the following components: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75774" y="1715453"/>
            <a:ext cx="8192453" cy="1211223"/>
          </a:xfrm>
          <a:prstGeom prst="roundRect">
            <a:avLst>
              <a:gd name="adj" fmla="val 16836"/>
            </a:avLst>
          </a:prstGeom>
          <a:solidFill>
            <a:srgbClr val="626C3B"/>
          </a:solidFill>
          <a:ln w="7620">
            <a:solidFill>
              <a:srgbClr val="626C3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95166" y="2088238"/>
            <a:ext cx="407789" cy="407789"/>
          </a:xfrm>
          <a:prstGeom prst="roundRect">
            <a:avLst>
              <a:gd name="adj" fmla="val 22421119"/>
            </a:avLst>
          </a:prstGeom>
          <a:solidFill>
            <a:srgbClr val="626C3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7323" y="2200276"/>
            <a:ext cx="183475" cy="1834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9044" y="2200276"/>
            <a:ext cx="1699260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KPI Cards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75774" y="3008114"/>
            <a:ext cx="8192453" cy="1211223"/>
          </a:xfrm>
          <a:prstGeom prst="roundRect">
            <a:avLst>
              <a:gd name="adj" fmla="val 16836"/>
            </a:avLst>
          </a:prstGeom>
          <a:solidFill>
            <a:srgbClr val="626C3B"/>
          </a:solidFill>
          <a:ln w="7620">
            <a:solidFill>
              <a:srgbClr val="8379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13482" y="3445469"/>
            <a:ext cx="407789" cy="407789"/>
          </a:xfrm>
          <a:prstGeom prst="roundRect">
            <a:avLst>
              <a:gd name="adj" fmla="val 22421119"/>
            </a:avLst>
          </a:prstGeom>
          <a:solidFill>
            <a:srgbClr val="83792E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639" y="3557507"/>
            <a:ext cx="183475" cy="1834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9044" y="3507581"/>
            <a:ext cx="1699260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Sales Trend Charts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475774" y="4300776"/>
            <a:ext cx="8192453" cy="1211223"/>
          </a:xfrm>
          <a:prstGeom prst="roundRect">
            <a:avLst>
              <a:gd name="adj" fmla="val 16836"/>
            </a:avLst>
          </a:prstGeom>
          <a:solidFill>
            <a:srgbClr val="626C3B"/>
          </a:solidFill>
          <a:ln w="7620">
            <a:solidFill>
              <a:srgbClr val="E8AF3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95027" y="4699873"/>
            <a:ext cx="407789" cy="407789"/>
          </a:xfrm>
          <a:prstGeom prst="roundRect">
            <a:avLst>
              <a:gd name="adj" fmla="val 22421119"/>
            </a:avLst>
          </a:prstGeom>
          <a:solidFill>
            <a:srgbClr val="E8AF3B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7184" y="4811911"/>
            <a:ext cx="183475" cy="1834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9044" y="4783098"/>
            <a:ext cx="1699260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Category Analysis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475774" y="5593437"/>
            <a:ext cx="8192453" cy="1211223"/>
          </a:xfrm>
          <a:prstGeom prst="roundRect">
            <a:avLst>
              <a:gd name="adj" fmla="val 16836"/>
            </a:avLst>
          </a:prstGeom>
          <a:solidFill>
            <a:srgbClr val="626C3B"/>
          </a:solidFill>
          <a:ln w="7620">
            <a:solidFill>
              <a:srgbClr val="CC914D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02369" y="5969658"/>
            <a:ext cx="407789" cy="407789"/>
          </a:xfrm>
          <a:prstGeom prst="roundRect">
            <a:avLst>
              <a:gd name="adj" fmla="val 22421119"/>
            </a:avLst>
          </a:prstGeom>
          <a:solidFill>
            <a:srgbClr val="CC914D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4526" y="6081695"/>
            <a:ext cx="183475" cy="1834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9044" y="6067288"/>
            <a:ext cx="1699260" cy="212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Filters &amp; Slicers</a:t>
            </a:r>
            <a:endParaRPr lang="en-US" sz="2000" dirty="0"/>
          </a:p>
        </p:txBody>
      </p:sp>
      <p:sp>
        <p:nvSpPr>
          <p:cNvPr id="25" name="Shape 18"/>
          <p:cNvSpPr/>
          <p:nvPr/>
        </p:nvSpPr>
        <p:spPr>
          <a:xfrm>
            <a:off x="475774" y="6896219"/>
            <a:ext cx="8192453" cy="430411"/>
          </a:xfrm>
          <a:prstGeom prst="roundRect">
            <a:avLst>
              <a:gd name="adj" fmla="val 47378"/>
            </a:avLst>
          </a:prstGeom>
          <a:solidFill>
            <a:srgbClr val="DFE4CE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624" y="7043349"/>
            <a:ext cx="169902" cy="1358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7377" y="7044841"/>
            <a:ext cx="7614999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Enabled dynamic data exploration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D5EA5-54D0-6DEE-2C6F-3D19D2853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E00ECD2-0B88-D66A-76E1-ACCCF00F9A4F}"/>
              </a:ext>
            </a:extLst>
          </p:cNvPr>
          <p:cNvSpPr/>
          <p:nvPr/>
        </p:nvSpPr>
        <p:spPr>
          <a:xfrm>
            <a:off x="475774" y="659049"/>
            <a:ext cx="3398639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6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Power BI Dashboard</a:t>
            </a:r>
            <a:endParaRPr lang="en-US" sz="3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C12451-B55A-8CAD-6263-6B8215980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155" y="1083864"/>
            <a:ext cx="12312089" cy="687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2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411</Words>
  <Application>Microsoft Office PowerPoint</Application>
  <PresentationFormat>Custom</PresentationFormat>
  <Paragraphs>135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Brygada 1918 Semi Bold</vt:lpstr>
      <vt:lpstr>Brygada 1918</vt:lpstr>
      <vt:lpstr>Arial</vt:lpstr>
      <vt:lpstr>Brygada 1918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Faisal Hasan</dc:creator>
  <cp:lastModifiedBy>SANA HASAN</cp:lastModifiedBy>
  <cp:revision>3</cp:revision>
  <dcterms:created xsi:type="dcterms:W3CDTF">2026-04-02T17:42:53Z</dcterms:created>
  <dcterms:modified xsi:type="dcterms:W3CDTF">2026-04-02T18:07:52Z</dcterms:modified>
</cp:coreProperties>
</file>